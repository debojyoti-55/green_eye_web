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325" r:id="rId3"/>
    <p:sldId id="309" r:id="rId4"/>
    <p:sldId id="313" r:id="rId5"/>
    <p:sldId id="326" r:id="rId6"/>
    <p:sldId id="323" r:id="rId7"/>
    <p:sldId id="329" r:id="rId8"/>
    <p:sldId id="327" r:id="rId9"/>
    <p:sldId id="328" r:id="rId10"/>
    <p:sldId id="320" r:id="rId11"/>
    <p:sldId id="330" r:id="rId12"/>
    <p:sldId id="331" r:id="rId13"/>
    <p:sldId id="335" r:id="rId14"/>
    <p:sldId id="259" r:id="rId15"/>
    <p:sldId id="312" r:id="rId16"/>
    <p:sldId id="314" r:id="rId17"/>
    <p:sldId id="315" r:id="rId18"/>
    <p:sldId id="333" r:id="rId19"/>
    <p:sldId id="332" r:id="rId20"/>
    <p:sldId id="334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86"/>
  </p:normalViewPr>
  <p:slideViewPr>
    <p:cSldViewPr snapToGrid="0">
      <p:cViewPr varScale="1">
        <p:scale>
          <a:sx n="107" d="100"/>
          <a:sy n="107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112FB6-59D5-8404-C2FB-05CB96D3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55D82C9-D204-07CC-27EA-4D2B35EAC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5A86275-F29F-F466-D0E1-008927C6C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595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4F299CA-903E-756F-B879-B0E52BBD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DD877FF-7370-BFB2-7B24-D0920A6EC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9114EB0-8E20-A283-7474-6FC5AF776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785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526A91-E8F5-DF57-C51F-B39D888E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6877D04-AF6F-95DF-2772-3F2AEFE42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F3B2725-B325-8878-AD6D-D25648435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191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3D472C-040E-E4AA-0F50-21EF5C6A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F54D29F-9CF9-AAC4-4085-C1C8747C7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23E0972-0CB0-58BE-CCC1-CF7700A91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5582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8F6110D-DF64-12D5-476E-7B483CA8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E6141AD-DFDC-5856-FF50-8C37E0BD9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A9B210-E520-999C-0397-C28013B3E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80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B065235-4CE1-3EF6-54B9-A78A44FB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C5DC48B-7CB5-F989-E9EE-42EBBBCBF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F7CA583-9230-DDDA-130D-CF3FBD6A3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0566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F3859FA-6110-F732-3E36-2A7BAE91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92037DD-A462-717C-4E53-9FA6C8FC5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09E7859-DA39-1558-CD0C-C35F85660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7073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E01364D-2C54-0B9F-A4FF-611B52B7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4E01948-7634-40F7-F778-9949D4752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18C52E6-CBFF-87B6-053D-B61CD0C87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789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65FEE74-B0F1-5D86-E371-E2A8E0D0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D179F8F-1EF7-6631-DB1E-63BB5D31B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18FFAE0-F43E-C91D-2364-72A6EE793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10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9E4397B-72CA-19BD-BB41-AE7A4062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987F84B-6C44-F86D-2BBC-96A2D124E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69BF050-A61D-B533-7037-ACD30714B7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638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0955DA0-1FAD-381E-F30C-40D10EB7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44AC051C-BAE8-0F53-2A32-F064DAEBB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15885A7-F524-F44C-F035-A5A94CC1D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212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4DF89A4-5C8A-0CCF-E92C-5CD3CBBA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58BEBDD-EB63-A47D-37A9-7BCFB0851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2AA32DA3-7ADE-4FB1-379F-9CEE78FC7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2384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E6444D72-FAB8-CA08-59FA-4656DE94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9F850F9C-58F4-00FB-91F1-02C1AA3EC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21066798-E265-5ACB-DCD9-CF93CF119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576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F77B58-DA80-91F3-EF2F-CD0AEBE6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246247E-E96F-06E5-713B-F06D060EB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50329F90-8B7E-9206-9DA8-B8005CB4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343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CB278EB-7F64-DF98-8B3D-629BB17B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288D1E74-57A3-294D-774E-02C3A0A8F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ED122A36-91E2-ED82-4E5C-6611AAC4A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2714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51D9873D-9CDC-5067-BDAE-0634B54D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033FF4E6-3711-AD52-41DE-A7FC75F01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667D90F-8255-E5D3-F675-1691109E9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9945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4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9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47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79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80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6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562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1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A logo with blue and red letters&#10;&#10;AI-generated content may be incorrect.">
            <a:extLst>
              <a:ext uri="{FF2B5EF4-FFF2-40B4-BE49-F238E27FC236}">
                <a16:creationId xmlns:a16="http://schemas.microsoft.com/office/drawing/2014/main" id="{C601B37F-C7C2-FC6D-9243-A55C180769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58298" y="6452236"/>
            <a:ext cx="105251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8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bojyoti-55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F74B-75BC-7A3C-E1C2-487D51B6218A}"/>
              </a:ext>
            </a:extLst>
          </p:cNvPr>
          <p:cNvSpPr txBox="1">
            <a:spLocks/>
          </p:cNvSpPr>
          <p:nvPr/>
        </p:nvSpPr>
        <p:spPr>
          <a:xfrm>
            <a:off x="766482" y="1603559"/>
            <a:ext cx="10515600" cy="285273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IBM SkillsBuild </a:t>
            </a:r>
            <a:b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Impact Showcase Event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2025-26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AF44B-E72B-F59C-73D7-E4A900D39C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9965" b="-5116"/>
          <a:stretch/>
        </p:blipFill>
        <p:spPr>
          <a:xfrm>
            <a:off x="335797" y="6276418"/>
            <a:ext cx="1156119" cy="3650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6DD977-3DE4-E9DB-C949-F03AAEC1C1AB}"/>
              </a:ext>
            </a:extLst>
          </p:cNvPr>
          <p:cNvSpPr/>
          <p:nvPr/>
        </p:nvSpPr>
        <p:spPr>
          <a:xfrm>
            <a:off x="335797" y="6238630"/>
            <a:ext cx="1246237" cy="402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0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1862-48D1-E6DC-49AC-B775B098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7D33-F233-AF0B-9CE2-59C43EE17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63" y="725326"/>
            <a:ext cx="11053459" cy="48072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. M . S. College of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6DCB9-581C-0DC0-2CA9-A91AB43322DF}"/>
              </a:ext>
            </a:extLst>
          </p:cNvPr>
          <p:cNvSpPr txBox="1"/>
          <p:nvPr/>
        </p:nvSpPr>
        <p:spPr>
          <a:xfrm>
            <a:off x="308267" y="2748967"/>
            <a:ext cx="1890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Akhil M Jain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701AC-0E68-0B9A-4CFB-157B97F348C0}"/>
              </a:ext>
            </a:extLst>
          </p:cNvPr>
          <p:cNvSpPr txBox="1"/>
          <p:nvPr/>
        </p:nvSpPr>
        <p:spPr>
          <a:xfrm>
            <a:off x="308267" y="4463484"/>
            <a:ext cx="1890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Arial"/>
                <a:sym typeface="Arial"/>
              </a:rPr>
              <a:t>Charan B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7331E-159A-1160-6D56-B82821E8EDCD}"/>
              </a:ext>
            </a:extLst>
          </p:cNvPr>
          <p:cNvSpPr txBox="1"/>
          <p:nvPr/>
        </p:nvSpPr>
        <p:spPr>
          <a:xfrm>
            <a:off x="188259" y="6054226"/>
            <a:ext cx="2137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defRPr/>
            </a:pPr>
            <a:r>
              <a:rPr lang="en-US" kern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Debojyoti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Bhattacharjee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3FBC8D-C339-3293-47B5-BB364C970CDC}"/>
              </a:ext>
            </a:extLst>
          </p:cNvPr>
          <p:cNvSpPr txBox="1"/>
          <p:nvPr/>
        </p:nvSpPr>
        <p:spPr>
          <a:xfrm>
            <a:off x="2325511" y="1385394"/>
            <a:ext cx="851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Tx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TITLE: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AI System for Pest and Disease Risk Assessment of Cotton Crop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FE5B69-06FB-F51B-10DE-C1AB6D5E5908}"/>
              </a:ext>
            </a:extLst>
          </p:cNvPr>
          <p:cNvSpPr txBox="1"/>
          <p:nvPr/>
        </p:nvSpPr>
        <p:spPr>
          <a:xfrm>
            <a:off x="2325511" y="1878460"/>
            <a:ext cx="9234311" cy="9476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lvl="0">
              <a:buClrTx/>
              <a:defRPr/>
            </a:pPr>
            <a:r>
              <a:rPr lang="en-IN" b="1" dirty="0"/>
              <a:t>Abstract/Introduction:</a:t>
            </a:r>
            <a:r>
              <a:rPr lang="en-IN" dirty="0"/>
              <a:t> </a:t>
            </a:r>
            <a:r>
              <a:rPr lang="en-US" dirty="0"/>
              <a:t>An intelligent AI system is developed to analyze environmental and cotton crop data for early assessment of pest and disease risks in agriculture.</a:t>
            </a:r>
            <a:br>
              <a:rPr lang="en-US" dirty="0"/>
            </a:br>
            <a:r>
              <a:rPr lang="en-IN" b="1" dirty="0"/>
              <a:t>Problem Statement &amp; Solution:</a:t>
            </a:r>
            <a:r>
              <a:rPr lang="en-IN" dirty="0"/>
              <a:t> </a:t>
            </a:r>
            <a:r>
              <a:rPr lang="en-US" dirty="0"/>
              <a:t>To overcome slow and reactive traditional monitoring, the system uses AI-based analysis to predict pest and disease risks in advance and support timely cotton crop protection decisions.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B6CB7-13FE-B1C7-F916-986583D6C784}"/>
              </a:ext>
            </a:extLst>
          </p:cNvPr>
          <p:cNvSpPr txBox="1"/>
          <p:nvPr/>
        </p:nvSpPr>
        <p:spPr>
          <a:xfrm>
            <a:off x="2325511" y="2919264"/>
            <a:ext cx="4722658" cy="37639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en-US" b="1" u="sng" dirty="0"/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Input:</a:t>
            </a:r>
            <a:br>
              <a:rPr lang="en-US" dirty="0"/>
            </a:br>
            <a:r>
              <a:rPr lang="en-US" dirty="0"/>
              <a:t>The system collects cotton crop details and weather information like temperature, humidity, and rainfall from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Analysis:</a:t>
            </a:r>
            <a:br>
              <a:rPr lang="en-US" dirty="0"/>
            </a:br>
            <a:r>
              <a:rPr lang="en-US" dirty="0"/>
              <a:t>An AI agent analyzes the environmental and crop data to understand conditions that may cause pests or 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Risk Prediction:</a:t>
            </a:r>
            <a:br>
              <a:rPr lang="en-US" dirty="0"/>
            </a:br>
            <a:r>
              <a:rPr lang="en-US" dirty="0"/>
              <a:t>The AI predicts possible pest and disease risks and categorizes them as low, medium, or high.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Alert &amp; Advice:</a:t>
            </a:r>
            <a:br>
              <a:rPr lang="en-US" dirty="0"/>
            </a:br>
            <a:r>
              <a:rPr lang="en-US" dirty="0"/>
              <a:t>The system provides early warnings and simple preventive suggestions to protect crops.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ECBAB7-E23C-EE0A-9C55-CB777E96EBDB}"/>
              </a:ext>
            </a:extLst>
          </p:cNvPr>
          <p:cNvSpPr txBox="1"/>
          <p:nvPr/>
        </p:nvSpPr>
        <p:spPr>
          <a:xfrm>
            <a:off x="7174523" y="2919264"/>
            <a:ext cx="4448469" cy="3367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en-US" b="1" u="sng" dirty="0"/>
              <a:t>IBM 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IBM Granite:</a:t>
            </a:r>
            <a:r>
              <a:rPr lang="en-US" dirty="0"/>
              <a:t> AI model used for reasoning and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IBM watsonx.ai:</a:t>
            </a:r>
            <a:r>
              <a:rPr lang="en-US" dirty="0"/>
              <a:t> Platform to run and manage the AI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IBM Cloud:</a:t>
            </a:r>
            <a:r>
              <a:rPr lang="en-US" dirty="0"/>
              <a:t> Used to host and deploy the system</a:t>
            </a:r>
          </a:p>
          <a:p>
            <a:endParaRPr lang="en-US" dirty="0"/>
          </a:p>
          <a:p>
            <a:r>
              <a:rPr lang="en-US" b="1" u="sng" dirty="0"/>
              <a:t>End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&amp; Marginal Farmers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Agricultural Extension Officers (KVKs &amp; NGOs)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Agronomists &amp; Crop Consultants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Farmer Producer Organizations (FPOs)</a:t>
            </a:r>
          </a:p>
          <a:p>
            <a:endParaRPr lang="en-US" dirty="0"/>
          </a:p>
        </p:txBody>
      </p:sp>
      <p:sp>
        <p:nvSpPr>
          <p:cNvPr id="3" name="AutoShape 2" descr="B.M.S. College of Engineering - Wikipedia">
            <a:extLst>
              <a:ext uri="{FF2B5EF4-FFF2-40B4-BE49-F238E27FC236}">
                <a16:creationId xmlns:a16="http://schemas.microsoft.com/office/drawing/2014/main" id="{C1A2E741-24F2-4742-4F90-E84E1D86B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4" name="Picture 10" descr="B.M.S. College of Engineering - Wikipedia">
            <a:extLst>
              <a:ext uri="{FF2B5EF4-FFF2-40B4-BE49-F238E27FC236}">
                <a16:creationId xmlns:a16="http://schemas.microsoft.com/office/drawing/2014/main" id="{2D1D11C6-E96B-599A-C146-61EF99294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98" y="571052"/>
            <a:ext cx="1059939" cy="105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DD3D4E-B553-FEF6-2984-44978111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08" y="1482624"/>
            <a:ext cx="972005" cy="1249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537F12-E71F-AFB8-F6BA-F670CEB21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97" y="3129767"/>
            <a:ext cx="1061828" cy="13318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550C48-0DAC-CE11-FD94-41E97EF43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73" y="4854588"/>
            <a:ext cx="931077" cy="119963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F7FE75C-E8DC-0178-F64B-3ADCD7BF8A1A}"/>
              </a:ext>
            </a:extLst>
          </p:cNvPr>
          <p:cNvSpPr/>
          <p:nvPr/>
        </p:nvSpPr>
        <p:spPr>
          <a:xfrm>
            <a:off x="10503109" y="6380143"/>
            <a:ext cx="1246237" cy="402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3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7EA23EE7-D0F3-8B7F-F9B5-BA07F765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C5AEADBF-5630-7BF2-B7EF-4E6684F63A8F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0EA75-83FF-046B-57D5-4429E9694E31}"/>
              </a:ext>
            </a:extLst>
          </p:cNvPr>
          <p:cNvSpPr txBox="1"/>
          <p:nvPr/>
        </p:nvSpPr>
        <p:spPr>
          <a:xfrm>
            <a:off x="599566" y="402861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 Integration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11A4AE-4837-7E32-85BE-00AE1C3B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486" y="986269"/>
            <a:ext cx="7241027" cy="557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0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C5D8C5B-0A62-C73F-8089-E61C641F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3ECB3-0190-8835-1A26-A7EBFA6A85D3}"/>
              </a:ext>
            </a:extLst>
          </p:cNvPr>
          <p:cNvSpPr txBox="1"/>
          <p:nvPr/>
        </p:nvSpPr>
        <p:spPr>
          <a:xfrm>
            <a:off x="260954" y="262532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89E82-5526-2D4D-889B-AE7DF5EFF796}"/>
              </a:ext>
            </a:extLst>
          </p:cNvPr>
          <p:cNvSpPr txBox="1"/>
          <p:nvPr/>
        </p:nvSpPr>
        <p:spPr>
          <a:xfrm>
            <a:off x="595331" y="2323325"/>
            <a:ext cx="26566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Chat 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44553-B038-A785-3B4C-50FC2F122D92}"/>
              </a:ext>
            </a:extLst>
          </p:cNvPr>
          <p:cNvSpPr txBox="1"/>
          <p:nvPr/>
        </p:nvSpPr>
        <p:spPr>
          <a:xfrm>
            <a:off x="276549" y="2755654"/>
            <a:ext cx="2590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 err="1"/>
              <a:t>langflow</a:t>
            </a:r>
            <a:r>
              <a:rPr lang="en-US" dirty="0"/>
              <a:t> component used to accept input from the user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15B19-C156-AA25-9FFF-822998B034FA}"/>
              </a:ext>
            </a:extLst>
          </p:cNvPr>
          <p:cNvSpPr txBox="1"/>
          <p:nvPr/>
        </p:nvSpPr>
        <p:spPr>
          <a:xfrm>
            <a:off x="3274160" y="4470534"/>
            <a:ext cx="223432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Agent : Scout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3718E2-608B-4B61-3D4A-AC971404C6AA}"/>
              </a:ext>
            </a:extLst>
          </p:cNvPr>
          <p:cNvSpPr txBox="1"/>
          <p:nvPr/>
        </p:nvSpPr>
        <p:spPr>
          <a:xfrm>
            <a:off x="3195986" y="4949324"/>
            <a:ext cx="248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Identifies the problem and decides if action is needed.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3E9FA-0E6F-A1AD-2E39-C99B1C4D9322}"/>
              </a:ext>
            </a:extLst>
          </p:cNvPr>
          <p:cNvSpPr txBox="1"/>
          <p:nvPr/>
        </p:nvSpPr>
        <p:spPr>
          <a:xfrm>
            <a:off x="6390629" y="4470533"/>
            <a:ext cx="23883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Agent : Doctor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53DA77-50FF-A742-1BF9-EAE0257F55A4}"/>
              </a:ext>
            </a:extLst>
          </p:cNvPr>
          <p:cNvSpPr txBox="1"/>
          <p:nvPr/>
        </p:nvSpPr>
        <p:spPr>
          <a:xfrm>
            <a:off x="6264434" y="4949324"/>
            <a:ext cx="248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Prescribes the cure and ensures safety.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965D33-26BA-6D90-9AEE-C6A6F9A0B960}"/>
              </a:ext>
            </a:extLst>
          </p:cNvPr>
          <p:cNvSpPr txBox="1"/>
          <p:nvPr/>
        </p:nvSpPr>
        <p:spPr>
          <a:xfrm>
            <a:off x="9215718" y="4470532"/>
            <a:ext cx="28473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Agent : Strategist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7A9850-F61F-DF12-4E6D-5A2DFA64C3D7}"/>
              </a:ext>
            </a:extLst>
          </p:cNvPr>
          <p:cNvSpPr txBox="1"/>
          <p:nvPr/>
        </p:nvSpPr>
        <p:spPr>
          <a:xfrm>
            <a:off x="9304314" y="4949324"/>
            <a:ext cx="248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Long-term planning and weather-based warnings.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67E36-46F8-43FC-FD53-C2A568113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1" y="1263609"/>
            <a:ext cx="2514951" cy="9526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C9AD83-B4A8-3303-7DF4-8DB86D5F2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49" y="887739"/>
            <a:ext cx="2234328" cy="34932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E981A8-9145-E60A-7BD3-D034834B7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295" y="790253"/>
            <a:ext cx="2388376" cy="36631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A250F14-AF4E-3FB6-9621-C83D1E19A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314" y="790253"/>
            <a:ext cx="2388376" cy="364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6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0F6A182-A61F-3FFB-E6D1-64BC967A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3DC741-B78E-0E42-7A60-9D27BF6B2968}"/>
              </a:ext>
            </a:extLst>
          </p:cNvPr>
          <p:cNvSpPr txBox="1"/>
          <p:nvPr/>
        </p:nvSpPr>
        <p:spPr>
          <a:xfrm>
            <a:off x="260954" y="262532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0F9F70-72B2-36F7-D623-2A540398FA5C}"/>
              </a:ext>
            </a:extLst>
          </p:cNvPr>
          <p:cNvGrpSpPr/>
          <p:nvPr/>
        </p:nvGrpSpPr>
        <p:grpSpPr>
          <a:xfrm>
            <a:off x="1801906" y="5116314"/>
            <a:ext cx="3873570" cy="1070826"/>
            <a:chOff x="-703473" y="2199830"/>
            <a:chExt cx="3873570" cy="10708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0B45CA-888D-00E4-CCAC-A5B7ED9DE7D0}"/>
                </a:ext>
              </a:extLst>
            </p:cNvPr>
            <p:cNvSpPr txBox="1"/>
            <p:nvPr/>
          </p:nvSpPr>
          <p:spPr>
            <a:xfrm>
              <a:off x="-703473" y="2199830"/>
              <a:ext cx="3873570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System Prompt : Merger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06C463-4A01-A0FE-4E3D-2B4A94E2C3E8}"/>
                </a:ext>
              </a:extLst>
            </p:cNvPr>
            <p:cNvSpPr txBox="1"/>
            <p:nvPr/>
          </p:nvSpPr>
          <p:spPr>
            <a:xfrm>
              <a:off x="-318150" y="2747436"/>
              <a:ext cx="2835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Combines the technical outputs from all three agents.</a:t>
              </a:r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6647CA-5923-576D-858E-6799B824EDD3}"/>
              </a:ext>
            </a:extLst>
          </p:cNvPr>
          <p:cNvGrpSpPr/>
          <p:nvPr/>
        </p:nvGrpSpPr>
        <p:grpSpPr>
          <a:xfrm>
            <a:off x="6865810" y="5127775"/>
            <a:ext cx="3854843" cy="843922"/>
            <a:chOff x="10973" y="2231323"/>
            <a:chExt cx="3854843" cy="8439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AC25AD-4A41-D28F-986F-8A91D35CA4E9}"/>
                </a:ext>
              </a:extLst>
            </p:cNvPr>
            <p:cNvSpPr txBox="1"/>
            <p:nvPr/>
          </p:nvSpPr>
          <p:spPr>
            <a:xfrm>
              <a:off x="226464" y="2231323"/>
              <a:ext cx="363935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Agent : Editor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DD032B-6651-94D9-265D-ABAAFE4CB82E}"/>
                </a:ext>
              </a:extLst>
            </p:cNvPr>
            <p:cNvSpPr txBox="1"/>
            <p:nvPr/>
          </p:nvSpPr>
          <p:spPr>
            <a:xfrm>
              <a:off x="10973" y="2767468"/>
              <a:ext cx="31914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Final Output</a:t>
              </a:r>
              <a:endParaRPr lang="en-IN" dirty="0"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30CC33D1-888E-A0BD-45C5-8431D7BF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53" y="1043744"/>
            <a:ext cx="2724530" cy="403916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98BC4EE-227B-3819-02F1-5F79A5AF4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804" y="1105665"/>
            <a:ext cx="300079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5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15B6F29-C3B9-E381-8370-151D3D00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DF4FC-6212-7281-6B42-F328A21708CB}"/>
              </a:ext>
            </a:extLst>
          </p:cNvPr>
          <p:cNvSpPr txBox="1"/>
          <p:nvPr/>
        </p:nvSpPr>
        <p:spPr>
          <a:xfrm>
            <a:off x="260954" y="262532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E2F181-1422-F5CA-6826-5842D11FF623}"/>
              </a:ext>
            </a:extLst>
          </p:cNvPr>
          <p:cNvGrpSpPr/>
          <p:nvPr/>
        </p:nvGrpSpPr>
        <p:grpSpPr>
          <a:xfrm>
            <a:off x="260954" y="1228881"/>
            <a:ext cx="3442446" cy="5202383"/>
            <a:chOff x="-374061" y="1213668"/>
            <a:chExt cx="3442446" cy="520238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B87AE83-F397-A891-D8DA-3374BFECDF5E}"/>
                </a:ext>
              </a:extLst>
            </p:cNvPr>
            <p:cNvGrpSpPr/>
            <p:nvPr/>
          </p:nvGrpSpPr>
          <p:grpSpPr>
            <a:xfrm>
              <a:off x="-374061" y="5136157"/>
              <a:ext cx="3442446" cy="1279894"/>
              <a:chOff x="-541290" y="2206206"/>
              <a:chExt cx="3442446" cy="127989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6D4A90-B726-8C1D-009D-83150E10D75B}"/>
                  </a:ext>
                </a:extLst>
              </p:cNvPr>
              <p:cNvSpPr txBox="1"/>
              <p:nvPr/>
            </p:nvSpPr>
            <p:spPr>
              <a:xfrm>
                <a:off x="-541290" y="2206206"/>
                <a:ext cx="3442446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 b="1" dirty="0" err="1"/>
                  <a:t>AstraDB</a:t>
                </a:r>
                <a:r>
                  <a:rPr lang="en-US" sz="2400" b="1" dirty="0"/>
                  <a:t> : </a:t>
                </a:r>
                <a:r>
                  <a:rPr lang="en-US" sz="2400" b="1" dirty="0" err="1"/>
                  <a:t>scout_data</a:t>
                </a:r>
                <a:endParaRPr lang="en-US" sz="2400" b="1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1D0FCB-98F5-340F-D6D0-E6747F035FC3}"/>
                  </a:ext>
                </a:extLst>
              </p:cNvPr>
              <p:cNvSpPr txBox="1"/>
              <p:nvPr/>
            </p:nvSpPr>
            <p:spPr>
              <a:xfrm>
                <a:off x="-318150" y="2747436"/>
                <a:ext cx="283505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Stores visual diagnostic guides and risk profiles to help Agent 1 identify pests from symptoms.</a:t>
                </a:r>
                <a:endParaRPr lang="en-IN" dirty="0"/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DF8E4F4-02B4-D6AD-DC46-FCAC14B27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415" y="1213668"/>
              <a:ext cx="2112132" cy="3857263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0A2987-ED36-9FCD-CFCC-80B4E307AA78}"/>
              </a:ext>
            </a:extLst>
          </p:cNvPr>
          <p:cNvGrpSpPr/>
          <p:nvPr/>
        </p:nvGrpSpPr>
        <p:grpSpPr>
          <a:xfrm>
            <a:off x="3986506" y="5158539"/>
            <a:ext cx="3639352" cy="1272725"/>
            <a:chOff x="-338312" y="2233407"/>
            <a:chExt cx="3639352" cy="127272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4FE274F-A1FF-2C71-4203-B640D8D451F1}"/>
                </a:ext>
              </a:extLst>
            </p:cNvPr>
            <p:cNvSpPr txBox="1"/>
            <p:nvPr/>
          </p:nvSpPr>
          <p:spPr>
            <a:xfrm>
              <a:off x="-338312" y="2233407"/>
              <a:ext cx="363935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 err="1"/>
                <a:t>AstraDB</a:t>
              </a:r>
              <a:r>
                <a:rPr lang="en-US" sz="2400" b="1" dirty="0"/>
                <a:t> : </a:t>
              </a:r>
              <a:r>
                <a:rPr lang="en-US" sz="2400" b="1" dirty="0" err="1"/>
                <a:t>doctor_data</a:t>
              </a:r>
              <a:endParaRPr lang="en-US" sz="24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C3CCC9-0457-EE41-8A3D-572CAFABDF70}"/>
                </a:ext>
              </a:extLst>
            </p:cNvPr>
            <p:cNvSpPr txBox="1"/>
            <p:nvPr/>
          </p:nvSpPr>
          <p:spPr>
            <a:xfrm>
              <a:off x="10973" y="2767468"/>
              <a:ext cx="31914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Contains chemical dosage databases and safety protocols for Agent 2 to calculate exact prescriptions</a:t>
              </a:r>
              <a:endParaRPr lang="en-IN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234443-BDC7-DE10-1DCB-9AB7A9D6307F}"/>
              </a:ext>
            </a:extLst>
          </p:cNvPr>
          <p:cNvGrpSpPr/>
          <p:nvPr/>
        </p:nvGrpSpPr>
        <p:grpSpPr>
          <a:xfrm>
            <a:off x="8109341" y="5194737"/>
            <a:ext cx="3955119" cy="1258026"/>
            <a:chOff x="-137005" y="2249573"/>
            <a:chExt cx="3955119" cy="125802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61C85F5-41A7-8F87-FC88-41E486D89F34}"/>
                </a:ext>
              </a:extLst>
            </p:cNvPr>
            <p:cNvSpPr txBox="1"/>
            <p:nvPr/>
          </p:nvSpPr>
          <p:spPr>
            <a:xfrm>
              <a:off x="-137005" y="2249573"/>
              <a:ext cx="395511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 err="1"/>
                <a:t>AstraDB</a:t>
              </a:r>
              <a:r>
                <a:rPr lang="en-US" sz="2400" b="1" dirty="0"/>
                <a:t> : </a:t>
              </a:r>
              <a:r>
                <a:rPr lang="en-US" sz="2400" b="1" dirty="0" err="1"/>
                <a:t>strategist_data</a:t>
              </a:r>
              <a:r>
                <a:rPr lang="en-US" sz="2400" b="1" dirty="0"/>
                <a:t>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448A40-1A0A-2A6C-6149-F3DEDEDD2561}"/>
                </a:ext>
              </a:extLst>
            </p:cNvPr>
            <p:cNvSpPr txBox="1"/>
            <p:nvPr/>
          </p:nvSpPr>
          <p:spPr>
            <a:xfrm>
              <a:off x="297522" y="2768935"/>
              <a:ext cx="308606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Holds IPM advisories and cultural control methods to guide Agent 3 on non-chemical prevention</a:t>
              </a:r>
              <a:endParaRPr lang="en-IN" dirty="0"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1CA10215-1B78-5A47-E558-886116E66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314" y="1214540"/>
            <a:ext cx="2180655" cy="388594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6BB8356-B938-EB47-52A6-B8B69D531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523" y="1140985"/>
            <a:ext cx="2220031" cy="399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9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41CF5A5-6674-8DBB-EF1E-B0CE94B3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605EB-AC0F-1CAF-D4B4-3AFF70678BA8}"/>
              </a:ext>
            </a:extLst>
          </p:cNvPr>
          <p:cNvSpPr txBox="1"/>
          <p:nvPr/>
        </p:nvSpPr>
        <p:spPr>
          <a:xfrm>
            <a:off x="260954" y="262532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90B5D0-3B35-D8F1-3F4F-CC6E6C95CD4D}"/>
              </a:ext>
            </a:extLst>
          </p:cNvPr>
          <p:cNvGrpSpPr/>
          <p:nvPr/>
        </p:nvGrpSpPr>
        <p:grpSpPr>
          <a:xfrm>
            <a:off x="797859" y="4808850"/>
            <a:ext cx="2870444" cy="1278027"/>
            <a:chOff x="157448" y="2208073"/>
            <a:chExt cx="2870444" cy="12780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4334D3-F4D0-0225-71FD-68CC0B1E9857}"/>
                </a:ext>
              </a:extLst>
            </p:cNvPr>
            <p:cNvSpPr txBox="1"/>
            <p:nvPr/>
          </p:nvSpPr>
          <p:spPr>
            <a:xfrm>
              <a:off x="741677" y="2208073"/>
              <a:ext cx="198211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Read File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7D5CB7-F119-66C5-31A6-D7CC3C5BC6CC}"/>
                </a:ext>
              </a:extLst>
            </p:cNvPr>
            <p:cNvSpPr txBox="1"/>
            <p:nvPr/>
          </p:nvSpPr>
          <p:spPr>
            <a:xfrm>
              <a:off x="157448" y="2747436"/>
              <a:ext cx="287044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Ingests the raw PDF documents (e.g., 'agent_3.pdf') containing the core knowledge base.</a:t>
              </a:r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B1341F-34D6-97E6-AE30-5A142B91A66C}"/>
              </a:ext>
            </a:extLst>
          </p:cNvPr>
          <p:cNvGrpSpPr/>
          <p:nvPr/>
        </p:nvGrpSpPr>
        <p:grpSpPr>
          <a:xfrm>
            <a:off x="3989295" y="4792447"/>
            <a:ext cx="4119282" cy="1278028"/>
            <a:chOff x="-376705" y="2208072"/>
            <a:chExt cx="4119282" cy="127802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D0913C-62E4-717A-813D-D9E4C50C34F1}"/>
                </a:ext>
              </a:extLst>
            </p:cNvPr>
            <p:cNvSpPr txBox="1"/>
            <p:nvPr/>
          </p:nvSpPr>
          <p:spPr>
            <a:xfrm>
              <a:off x="800745" y="2208072"/>
              <a:ext cx="198211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Split Text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DFD352-B0A7-1BD9-B035-2A52035EADE8}"/>
                </a:ext>
              </a:extLst>
            </p:cNvPr>
            <p:cNvSpPr txBox="1"/>
            <p:nvPr/>
          </p:nvSpPr>
          <p:spPr>
            <a:xfrm>
              <a:off x="-376705" y="2747436"/>
              <a:ext cx="41192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Breaks documents into smaller, manageable chunks (e.g., 500 characters) to ensure efficient processing and retrieval by the embedding model.</a:t>
              </a:r>
              <a:endParaRPr lang="en-IN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E8E7D74-E3BE-F8FA-AEC6-BA35827B6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36" y="2304893"/>
            <a:ext cx="2629267" cy="2248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552513-D93B-9605-86BD-C79407817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964" y="961681"/>
            <a:ext cx="2762636" cy="359142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C12AE94-30E1-D78E-99E3-754965F31EDD}"/>
              </a:ext>
            </a:extLst>
          </p:cNvPr>
          <p:cNvGrpSpPr/>
          <p:nvPr/>
        </p:nvGrpSpPr>
        <p:grpSpPr>
          <a:xfrm>
            <a:off x="8339099" y="4596281"/>
            <a:ext cx="3320050" cy="1597218"/>
            <a:chOff x="-97192" y="2235630"/>
            <a:chExt cx="3008544" cy="159721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8EE491-3EDE-8DA5-DAF2-654D4868C1B4}"/>
                </a:ext>
              </a:extLst>
            </p:cNvPr>
            <p:cNvSpPr txBox="1"/>
            <p:nvPr/>
          </p:nvSpPr>
          <p:spPr>
            <a:xfrm>
              <a:off x="369215" y="2235630"/>
              <a:ext cx="2452488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IBM watsonx.ai </a:t>
              </a:r>
            </a:p>
            <a:p>
              <a:r>
                <a:rPr lang="en-US" sz="2400" b="1" dirty="0"/>
                <a:t>Embeddings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8865B9-DC75-0DB1-7759-BB241237BC6C}"/>
                </a:ext>
              </a:extLst>
            </p:cNvPr>
            <p:cNvSpPr txBox="1"/>
            <p:nvPr/>
          </p:nvSpPr>
          <p:spPr>
            <a:xfrm>
              <a:off x="-97192" y="3094184"/>
              <a:ext cx="300854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Converts text chunks into vector embeddings (numerical lists) to enable semantic search within Astra DB</a:t>
              </a:r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124D6AA-DD6F-68B2-7B44-EEEE0DA73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476" y="961681"/>
            <a:ext cx="2452488" cy="36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C86F3A-B86D-5DBE-94A9-AAF7A336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CEC7B6-9732-E02C-991F-59048D098A69}"/>
              </a:ext>
            </a:extLst>
          </p:cNvPr>
          <p:cNvSpPr txBox="1"/>
          <p:nvPr/>
        </p:nvSpPr>
        <p:spPr>
          <a:xfrm>
            <a:off x="260954" y="262532"/>
            <a:ext cx="58700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Langflow</a:t>
            </a:r>
            <a:r>
              <a:rPr lang="en-US" sz="2400" b="1" dirty="0"/>
              <a:t> Components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1DBCFC1-2770-0AA8-DE7C-19087DBF7445}"/>
              </a:ext>
            </a:extLst>
          </p:cNvPr>
          <p:cNvGrpSpPr/>
          <p:nvPr/>
        </p:nvGrpSpPr>
        <p:grpSpPr>
          <a:xfrm>
            <a:off x="4267200" y="4956936"/>
            <a:ext cx="3822074" cy="1493471"/>
            <a:chOff x="-376705" y="2208072"/>
            <a:chExt cx="4119282" cy="149347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DB8C7E-75DB-43C6-6653-6404871491A7}"/>
                </a:ext>
              </a:extLst>
            </p:cNvPr>
            <p:cNvSpPr txBox="1"/>
            <p:nvPr/>
          </p:nvSpPr>
          <p:spPr>
            <a:xfrm>
              <a:off x="461999" y="2208072"/>
              <a:ext cx="2870443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IBM watsonx.ai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4038B2-E6C4-F750-8068-CBBA4F1B2A15}"/>
                </a:ext>
              </a:extLst>
            </p:cNvPr>
            <p:cNvSpPr txBox="1"/>
            <p:nvPr/>
          </p:nvSpPr>
          <p:spPr>
            <a:xfrm>
              <a:off x="-376705" y="2747436"/>
              <a:ext cx="411928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Granite LLM engine that powers each agent (Scout, Doctor, Strategist), analyzing retrieved context to generate intelligent responses.</a:t>
              </a:r>
              <a:endParaRPr lang="en-IN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8AB493-F9F8-B32E-BF41-DB575AB3BAA4}"/>
              </a:ext>
            </a:extLst>
          </p:cNvPr>
          <p:cNvGrpSpPr/>
          <p:nvPr/>
        </p:nvGrpSpPr>
        <p:grpSpPr>
          <a:xfrm>
            <a:off x="8507505" y="4940837"/>
            <a:ext cx="3460377" cy="1200329"/>
            <a:chOff x="54507" y="2225267"/>
            <a:chExt cx="3460377" cy="120032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772F66-8FC2-E72B-8F2F-5E957E294110}"/>
                </a:ext>
              </a:extLst>
            </p:cNvPr>
            <p:cNvSpPr txBox="1"/>
            <p:nvPr/>
          </p:nvSpPr>
          <p:spPr>
            <a:xfrm>
              <a:off x="713265" y="2225267"/>
              <a:ext cx="198211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Chat Output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71F47A-32FC-FB59-BBDB-C8C77E6662F8}"/>
                </a:ext>
              </a:extLst>
            </p:cNvPr>
            <p:cNvSpPr txBox="1"/>
            <p:nvPr/>
          </p:nvSpPr>
          <p:spPr>
            <a:xfrm>
              <a:off x="54507" y="2686932"/>
              <a:ext cx="346037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Displays the final, synthesized response from the AI agents to the user in a readable format.</a:t>
              </a:r>
              <a:endParaRPr lang="en-IN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C28F400-9120-B8C7-3246-DDF2A0A065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3" b="-255"/>
          <a:stretch>
            <a:fillRect/>
          </a:stretch>
        </p:blipFill>
        <p:spPr>
          <a:xfrm>
            <a:off x="4868068" y="426977"/>
            <a:ext cx="2433403" cy="4381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EC6599-0AE2-FE3F-F216-3CF0788F3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756" y="3984392"/>
            <a:ext cx="2541410" cy="80702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C94FCA4-3D8A-044C-A597-1854FFFD8BDA}"/>
              </a:ext>
            </a:extLst>
          </p:cNvPr>
          <p:cNvGrpSpPr/>
          <p:nvPr/>
        </p:nvGrpSpPr>
        <p:grpSpPr>
          <a:xfrm>
            <a:off x="407435" y="4940837"/>
            <a:ext cx="3460377" cy="1434446"/>
            <a:chOff x="54507" y="2206593"/>
            <a:chExt cx="3460377" cy="143444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FE3935-5C80-8DDD-CD8F-1BCF1076FF3C}"/>
                </a:ext>
              </a:extLst>
            </p:cNvPr>
            <p:cNvSpPr txBox="1"/>
            <p:nvPr/>
          </p:nvSpPr>
          <p:spPr>
            <a:xfrm>
              <a:off x="1101665" y="2206593"/>
              <a:ext cx="198211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 dirty="0"/>
                <a:t>Parser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882A76-1F4A-C9B1-A659-3D598B732EBE}"/>
                </a:ext>
              </a:extLst>
            </p:cNvPr>
            <p:cNvSpPr txBox="1"/>
            <p:nvPr/>
          </p:nvSpPr>
          <p:spPr>
            <a:xfrm>
              <a:off x="54507" y="2686932"/>
              <a:ext cx="34603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Converts retrieved database records into a clean, text-based format (using templates) that the AI agents can easily read and interpret.</a:t>
              </a:r>
              <a:endParaRPr lang="en-IN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0B482F2-BEDB-B14D-2032-4CD926F9C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34" y="1829352"/>
            <a:ext cx="2762636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77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E2F5BF-5444-D856-7A1C-B240B500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9BBD4-1006-9993-5453-F2B6BC445D4F}"/>
              </a:ext>
            </a:extLst>
          </p:cNvPr>
          <p:cNvSpPr txBox="1"/>
          <p:nvPr/>
        </p:nvSpPr>
        <p:spPr>
          <a:xfrm>
            <a:off x="260954" y="262532"/>
            <a:ext cx="65928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The Scout : Detection &amp; Diagnosis Agent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4AF81-4404-65B0-6C29-DF6B26F042B2}"/>
              </a:ext>
            </a:extLst>
          </p:cNvPr>
          <p:cNvSpPr txBox="1"/>
          <p:nvPr/>
        </p:nvSpPr>
        <p:spPr>
          <a:xfrm>
            <a:off x="7220043" y="1079528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ABA0B-84C0-B493-9072-8BBE75391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263" y="1079528"/>
            <a:ext cx="3400900" cy="5068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496BC9-7BD7-E949-21AF-84BA6D7AE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209" y="1508760"/>
            <a:ext cx="5398475" cy="46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00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F302058-8A2D-F4AF-5F83-6ED79946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ED86CA-787F-A6B3-C3EE-0F5689F3C2EC}"/>
              </a:ext>
            </a:extLst>
          </p:cNvPr>
          <p:cNvSpPr txBox="1"/>
          <p:nvPr/>
        </p:nvSpPr>
        <p:spPr>
          <a:xfrm>
            <a:off x="260954" y="262532"/>
            <a:ext cx="65928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The Doctor : Detection &amp; Diagnosis Agent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68D90-DF4A-DCA6-42A4-96327CAFA0A3}"/>
              </a:ext>
            </a:extLst>
          </p:cNvPr>
          <p:cNvSpPr txBox="1"/>
          <p:nvPr/>
        </p:nvSpPr>
        <p:spPr>
          <a:xfrm>
            <a:off x="7220043" y="1079528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7A83B-B224-C968-ACD1-785BB811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01" y="1079528"/>
            <a:ext cx="3604444" cy="5344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EC07C-990B-E360-29D7-75A95F323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541" y="1547572"/>
            <a:ext cx="5696259" cy="44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4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7093385-2AE8-9060-CE82-848A26FE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0C1CE4-6D7E-8556-89F6-D219A4FA3F30}"/>
              </a:ext>
            </a:extLst>
          </p:cNvPr>
          <p:cNvSpPr txBox="1"/>
          <p:nvPr/>
        </p:nvSpPr>
        <p:spPr>
          <a:xfrm>
            <a:off x="260953" y="262532"/>
            <a:ext cx="76924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The Strategist : Advisory &amp; Prevention Agent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27E33-A871-377C-33AB-AB166F18D067}"/>
              </a:ext>
            </a:extLst>
          </p:cNvPr>
          <p:cNvSpPr txBox="1"/>
          <p:nvPr/>
        </p:nvSpPr>
        <p:spPr>
          <a:xfrm>
            <a:off x="7220043" y="1079528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59BF09-FBE2-FC3D-A33E-80B1C3F37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6" y="1495875"/>
            <a:ext cx="5219058" cy="4282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FB5F9-C9F2-13CC-0649-258FC82FB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315" y="1079528"/>
            <a:ext cx="3447409" cy="521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07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38AC16F-3AFD-EBDC-DDC9-D25C5DC7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974CE-5B0B-3303-607F-3CC2441A8BAB}"/>
              </a:ext>
            </a:extLst>
          </p:cNvPr>
          <p:cNvSpPr txBox="1"/>
          <p:nvPr/>
        </p:nvSpPr>
        <p:spPr>
          <a:xfrm>
            <a:off x="260953" y="262532"/>
            <a:ext cx="76924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The Editor : Final Summary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EA099-D2D5-07F1-F6CA-766FD6FC7AB7}"/>
              </a:ext>
            </a:extLst>
          </p:cNvPr>
          <p:cNvSpPr txBox="1"/>
          <p:nvPr/>
        </p:nvSpPr>
        <p:spPr>
          <a:xfrm>
            <a:off x="7220043" y="1079528"/>
            <a:ext cx="37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 Instructions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C8635-17FF-DC2A-9DB2-F931A7826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08" y="1776842"/>
            <a:ext cx="3941992" cy="4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F9A9ED-3B1B-A76C-7CF5-2D881680A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411" y="1476232"/>
            <a:ext cx="5207473" cy="487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9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1219200" y="477606"/>
            <a:ext cx="440488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/>
              <a:t>About the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97097-FE1F-3502-9F85-2E152E3AC4BA}"/>
              </a:ext>
            </a:extLst>
          </p:cNvPr>
          <p:cNvSpPr txBox="1"/>
          <p:nvPr/>
        </p:nvSpPr>
        <p:spPr>
          <a:xfrm>
            <a:off x="1219200" y="1541928"/>
            <a:ext cx="40789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IBM Granite</a:t>
            </a:r>
          </a:p>
          <a:p>
            <a:r>
              <a:rPr lang="en-IN" sz="6000" b="1" dirty="0"/>
              <a:t>-3-2-8B-Instruct</a:t>
            </a:r>
            <a:endParaRPr lang="en-IN" sz="7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F5112-01F8-6C5B-C00C-49AA086A4425}"/>
              </a:ext>
            </a:extLst>
          </p:cNvPr>
          <p:cNvSpPr txBox="1"/>
          <p:nvPr/>
        </p:nvSpPr>
        <p:spPr>
          <a:xfrm>
            <a:off x="5432445" y="1720840"/>
            <a:ext cx="54953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Question-answering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 Augmented Generation (RAG)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related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Function-calling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dialog use cases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Long-context tasks including long document/meeting summarization, long document QA,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5336BDD-F6EE-72C7-DA1C-78D6A81C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01AFB401-D7B4-1FC8-255F-8BE20CF31B97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0A57D-A017-5448-F228-64830633806D}"/>
              </a:ext>
            </a:extLst>
          </p:cNvPr>
          <p:cNvSpPr txBox="1"/>
          <p:nvPr/>
        </p:nvSpPr>
        <p:spPr>
          <a:xfrm>
            <a:off x="595169" y="578728"/>
            <a:ext cx="74636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Statistics for the use of IBM Granite-3-2-8b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D7F28-4331-C4D6-61BA-10647D80C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1108"/>
            <a:ext cx="12192000" cy="459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97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B104FF5-4ADE-9BA5-727D-2865E8CF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F658AB5B-CC15-8BB1-F697-553D12C81D76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47A14-435C-6797-06EA-F8C639349A52}"/>
              </a:ext>
            </a:extLst>
          </p:cNvPr>
          <p:cNvSpPr txBox="1"/>
          <p:nvPr/>
        </p:nvSpPr>
        <p:spPr>
          <a:xfrm>
            <a:off x="599566" y="669045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3BF4D-F15A-9615-557C-3120057A9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14" y="2355398"/>
            <a:ext cx="9764771" cy="173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1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F1C83D6-5373-4DE9-BAD7-7F6286BF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86A1EFB0-1D30-AD27-B613-69F5E63B53AC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6FF16-4493-D595-165E-9B2A1A90563C}"/>
              </a:ext>
            </a:extLst>
          </p:cNvPr>
          <p:cNvSpPr txBox="1"/>
          <p:nvPr/>
        </p:nvSpPr>
        <p:spPr>
          <a:xfrm>
            <a:off x="658413" y="596959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AB2D0-B0C3-FC60-4DE9-93B63CA3F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41" y="1272975"/>
            <a:ext cx="6733836" cy="524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45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C9F951B3-9233-7B4D-A695-02B407EE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3EA2469-B8A1-2940-E238-579750F67A8B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5A943-1B0A-A596-2CE9-F463CC8E68DD}"/>
              </a:ext>
            </a:extLst>
          </p:cNvPr>
          <p:cNvSpPr txBox="1"/>
          <p:nvPr/>
        </p:nvSpPr>
        <p:spPr>
          <a:xfrm>
            <a:off x="658413" y="596959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DF9E8-2A53-9EB1-6C3B-80EF9B55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41" y="1272975"/>
            <a:ext cx="6733836" cy="524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73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D33AF123-A3E3-3037-32EF-9EFB8DFF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0A99461C-93FD-AA79-E37F-56968E21940E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67631-C127-F74F-1B73-6AE8BB7B6EEF}"/>
              </a:ext>
            </a:extLst>
          </p:cNvPr>
          <p:cNvSpPr txBox="1"/>
          <p:nvPr/>
        </p:nvSpPr>
        <p:spPr>
          <a:xfrm>
            <a:off x="599566" y="558859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Web Interface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143614-C086-BBEA-A61D-5EE19D4B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46" t="3221" r="25624" b="14751"/>
          <a:stretch>
            <a:fillRect/>
          </a:stretch>
        </p:blipFill>
        <p:spPr>
          <a:xfrm>
            <a:off x="2652950" y="1137556"/>
            <a:ext cx="6452950" cy="525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41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B145B33-C0B9-B3CA-CF7A-950E817E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216AF130-9CC7-EEDA-32CE-E90BCDEAABA9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FAC06-8362-AB11-3F81-7F70AE510EA8}"/>
              </a:ext>
            </a:extLst>
          </p:cNvPr>
          <p:cNvSpPr txBox="1"/>
          <p:nvPr/>
        </p:nvSpPr>
        <p:spPr>
          <a:xfrm>
            <a:off x="599566" y="558859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Github</a:t>
            </a:r>
            <a:r>
              <a:rPr lang="en-US" sz="2400" b="1" dirty="0"/>
              <a:t> Repository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597C91-462E-EC59-72CF-39B7BA6E3D43}"/>
              </a:ext>
            </a:extLst>
          </p:cNvPr>
          <p:cNvSpPr txBox="1"/>
          <p:nvPr/>
        </p:nvSpPr>
        <p:spPr>
          <a:xfrm>
            <a:off x="3825366" y="5383181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hlinkClick r:id="rId3"/>
              </a:rPr>
              <a:t>https://github.com/Debojyoti-55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34B7589-E382-9460-AC59-340D1BBDA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9101" y="1661319"/>
            <a:ext cx="3535362" cy="353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3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3777</TotalTime>
  <Words>635</Words>
  <Application>Microsoft Office PowerPoint</Application>
  <PresentationFormat>Widescreen</PresentationFormat>
  <Paragraphs>88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Franklin Gothic Book</vt:lpstr>
      <vt:lpstr>Franklin Gothic Demi</vt:lpstr>
      <vt:lpstr>Times New Roman</vt:lpstr>
      <vt:lpstr>Wingdings 2</vt:lpstr>
      <vt:lpstr>Office Theme</vt:lpstr>
      <vt:lpstr>DividendVTI</vt:lpstr>
      <vt:lpstr>PowerPoint Presentation</vt:lpstr>
      <vt:lpstr>B . M . S. College of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Akhil Jain</cp:lastModifiedBy>
  <cp:revision>176</cp:revision>
  <dcterms:created xsi:type="dcterms:W3CDTF">2025-07-08T05:06:56Z</dcterms:created>
  <dcterms:modified xsi:type="dcterms:W3CDTF">2026-02-12T15:22:33Z</dcterms:modified>
</cp:coreProperties>
</file>